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bold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55B2D4-52E1-4388-A8C6-EC58201AE00B}">
  <a:tblStyle styleId="{4F55B2D4-52E1-4388-A8C6-EC58201AE0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0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1524000" y="-2095500"/>
            <a:ext cx="15811500" cy="10477500"/>
            <a:chOff x="-1524000" y="-2095500"/>
            <a:chExt cx="15811500" cy="10477500"/>
          </a:xfrm>
        </p:grpSpPr>
        <p:sp>
          <p:nvSpPr>
            <p:cNvPr id="85" name="Google Shape;85;p13"/>
            <p:cNvSpPr/>
            <p:nvPr/>
          </p:nvSpPr>
          <p:spPr>
            <a:xfrm>
              <a:off x="8572500" y="-2095500"/>
              <a:ext cx="5715000" cy="5715000"/>
            </a:xfrm>
            <a:prstGeom prst="ellipse">
              <a:avLst/>
            </a:prstGeom>
            <a:solidFill>
              <a:srgbClr val="0284C7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1524000" y="3810000"/>
              <a:ext cx="4572000" cy="4572000"/>
            </a:xfrm>
            <a:prstGeom prst="ellipse">
              <a:avLst/>
            </a:prstGeom>
            <a:solidFill>
              <a:srgbClr val="0B2545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" name="Google Shape;8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7262" y="-771525"/>
              <a:ext cx="4772100" cy="287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13"/>
          <p:cNvGrpSpPr/>
          <p:nvPr/>
        </p:nvGrpSpPr>
        <p:grpSpPr>
          <a:xfrm>
            <a:off x="4286250" y="952500"/>
            <a:ext cx="3619500" cy="438300"/>
            <a:chOff x="0" y="0"/>
            <a:chExt cx="3619500" cy="4383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619500" cy="4383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" name="Google Shape;90;p13"/>
            <p:cNvGrpSpPr/>
            <p:nvPr/>
          </p:nvGrpSpPr>
          <p:grpSpPr>
            <a:xfrm>
              <a:off x="190500" y="85725"/>
              <a:ext cx="266700" cy="266700"/>
              <a:chOff x="0" y="0"/>
              <a:chExt cx="266700" cy="266700"/>
            </a:xfrm>
          </p:grpSpPr>
          <p:pic>
            <p:nvPicPr>
              <p:cNvPr id="91" name="Google Shape;91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" name="Google Shape;92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1849" r="1858" t="0"/>
              <a:stretch/>
            </p:blipFill>
            <p:spPr>
              <a:xfrm>
                <a:off x="57150" y="76200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3" name="Google Shape;93;p13"/>
            <p:cNvSpPr txBox="1"/>
            <p:nvPr/>
          </p:nvSpPr>
          <p:spPr>
            <a:xfrm>
              <a:off x="533400" y="0"/>
              <a:ext cx="28956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SALESFORCE PATHFINDER CAPSTONE</a:t>
              </a:r>
              <a:endParaRPr b="1" sz="11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4" name="Google Shape;94;p13"/>
          <p:cNvSpPr/>
          <p:nvPr/>
        </p:nvSpPr>
        <p:spPr>
          <a:xfrm>
            <a:off x="5619750" y="3352800"/>
            <a:ext cx="952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3"/>
          <p:cNvGrpSpPr/>
          <p:nvPr/>
        </p:nvGrpSpPr>
        <p:grpSpPr>
          <a:xfrm>
            <a:off x="762000" y="4000500"/>
            <a:ext cx="3276600" cy="1714500"/>
            <a:chOff x="0" y="0"/>
            <a:chExt cx="3276600" cy="1714500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32766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0" y="0"/>
              <a:ext cx="32766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228600" y="3017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9" name="Google Shape;99;p13"/>
          <p:cNvGrpSpPr/>
          <p:nvPr/>
        </p:nvGrpSpPr>
        <p:grpSpPr>
          <a:xfrm>
            <a:off x="4457700" y="4000500"/>
            <a:ext cx="3276600" cy="1714500"/>
            <a:chOff x="0" y="0"/>
            <a:chExt cx="3276600" cy="1714500"/>
          </a:xfrm>
        </p:grpSpPr>
        <p:sp>
          <p:nvSpPr>
            <p:cNvPr id="100" name="Google Shape;100;p13"/>
            <p:cNvSpPr/>
            <p:nvPr/>
          </p:nvSpPr>
          <p:spPr>
            <a:xfrm>
              <a:off x="0" y="0"/>
              <a:ext cx="32766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0" y="0"/>
              <a:ext cx="3276600" cy="57300"/>
            </a:xfrm>
            <a:prstGeom prst="roundRect">
              <a:avLst>
                <a:gd fmla="val 50000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228600" y="3017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B254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400">
                <a:solidFill>
                  <a:srgbClr val="0B254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>
            <a:off x="8153400" y="4000500"/>
            <a:ext cx="3276600" cy="1714500"/>
            <a:chOff x="0" y="0"/>
            <a:chExt cx="3276600" cy="1714500"/>
          </a:xfrm>
        </p:grpSpPr>
        <p:sp>
          <p:nvSpPr>
            <p:cNvPr id="104" name="Google Shape;104;p13"/>
            <p:cNvSpPr/>
            <p:nvPr/>
          </p:nvSpPr>
          <p:spPr>
            <a:xfrm>
              <a:off x="0" y="0"/>
              <a:ext cx="32766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0" y="0"/>
              <a:ext cx="32766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228600" y="3017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auto_graph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07" name="Google Shape;107;p13"/>
          <p:cNvSpPr txBox="1"/>
          <p:nvPr/>
        </p:nvSpPr>
        <p:spPr>
          <a:xfrm>
            <a:off x="762000" y="1771650"/>
            <a:ext cx="10668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Parker Pizza: </a:t>
            </a:r>
            <a:r>
              <a:rPr b="1" lang="en-US" sz="42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B2B CRM Implementation</a:t>
            </a:r>
            <a:endParaRPr b="1" sz="4200">
              <a:solidFill>
                <a:srgbClr val="0B254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333500" y="2667000"/>
            <a:ext cx="952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Architecting an Enterprise Sales Cloud &amp; RevOps Solution for Regional Grocery Distribution</a:t>
            </a:r>
            <a:endParaRPr b="0" sz="16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990600" y="4686300"/>
            <a:ext cx="28194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ARCHITECT &amp; ADMINISTRATOR</a:t>
            </a:r>
            <a:endParaRPr b="1" sz="950">
              <a:solidFill>
                <a:srgbClr val="0284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90600" y="4933950"/>
            <a:ext cx="28194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Maria Naz | Certified Salesforce Admin</a:t>
            </a:r>
            <a:endParaRPr b="0" sz="125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4686300" y="4686300"/>
            <a:ext cx="28194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PROGRAM</a:t>
            </a:r>
            <a:endParaRPr b="1" sz="950">
              <a:solidFill>
                <a:srgbClr val="0B254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4686300" y="4933950"/>
            <a:ext cx="28194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Salesforce Pathfinder / ReDI School</a:t>
            </a:r>
            <a:endParaRPr b="0" sz="125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8382000" y="4686300"/>
            <a:ext cx="28194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FOCUS AREA</a:t>
            </a:r>
            <a:endParaRPr b="1" sz="950">
              <a:solidFill>
                <a:srgbClr val="0284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8382000" y="4933950"/>
            <a:ext cx="28194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 Cloud, Flow Builder, RevOps</a:t>
            </a:r>
            <a:endParaRPr b="0" sz="125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8572500" y="-2095500"/>
            <a:ext cx="5715000" cy="5715000"/>
          </a:xfrm>
          <a:prstGeom prst="ellipse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4">
            <a:alphaModFix/>
          </a:blip>
          <a:srcRect b="4027" l="0" r="0" t="4027"/>
          <a:stretch/>
        </p:blipFill>
        <p:spPr>
          <a:xfrm>
            <a:off x="6000750" y="428625"/>
            <a:ext cx="5619900" cy="600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4"/>
          <p:cNvGrpSpPr/>
          <p:nvPr/>
        </p:nvGrpSpPr>
        <p:grpSpPr>
          <a:xfrm>
            <a:off x="571500" y="457200"/>
            <a:ext cx="5143500" cy="1019250"/>
            <a:chOff x="0" y="0"/>
            <a:chExt cx="5143500" cy="1019250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2000100" cy="285900"/>
            </a:xfrm>
            <a:prstGeom prst="roundRect">
              <a:avLst>
                <a:gd fmla="val 50000" name="adj"/>
              </a:avLst>
            </a:prstGeom>
            <a:solidFill>
              <a:srgbClr val="E0F2FE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0" y="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TRANSITIONING TO B2B</a:t>
              </a:r>
              <a:endParaRPr b="1" sz="9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0" y="400050"/>
              <a:ext cx="514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50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Strategic Shift: </a:t>
              </a:r>
              <a:r>
                <a:rPr b="1" lang="en-US" sz="255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Customer 360</a:t>
              </a:r>
              <a:endParaRPr b="1" sz="255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571500" y="1762125"/>
            <a:ext cx="5048400" cy="2000100"/>
            <a:chOff x="0" y="0"/>
            <a:chExt cx="5048400" cy="200010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5048400" cy="20001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2286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228600" y="2607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storefront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p14"/>
            <p:cNvSpPr txBox="1"/>
            <p:nvPr/>
          </p:nvSpPr>
          <p:spPr>
            <a:xfrm>
              <a:off x="838200" y="209550"/>
              <a:ext cx="3981600" cy="15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D2C to B2B Retail Shift</a:t>
              </a:r>
              <a:endParaRPr b="1" sz="135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Parker Pizza shifted from Direct-to-Consumer sales into regional retail grocery distribution, demanding a unified Customer 360 architecture.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>
            <a:off x="571500" y="4048125"/>
            <a:ext cx="5048400" cy="2000100"/>
            <a:chOff x="0" y="0"/>
            <a:chExt cx="5048400" cy="2000100"/>
          </a:xfrm>
        </p:grpSpPr>
        <p:sp>
          <p:nvSpPr>
            <p:cNvPr id="131" name="Google Shape;131;p14"/>
            <p:cNvSpPr/>
            <p:nvPr/>
          </p:nvSpPr>
          <p:spPr>
            <a:xfrm>
              <a:off x="0" y="0"/>
              <a:ext cx="5048400" cy="20001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2286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228600" y="2607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838200" y="209550"/>
              <a:ext cx="3981600" cy="15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Unified Data Architecture</a:t>
              </a:r>
              <a:endParaRPr b="1" sz="135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Centralized procurement data across Sales, Service, and Marketing to eliminate operational silos and manage high-volume wholesale relationships.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503"/>
            <a:ext cx="2605087" cy="2180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2647503"/>
            <a:ext cx="2605087" cy="2180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775" y="2647503"/>
            <a:ext cx="2605087" cy="2180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5412" y="2647503"/>
            <a:ext cx="2605087" cy="2180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8856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771525" y="3495228"/>
            <a:ext cx="2315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Fragmented Accounts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771525" y="3828603"/>
            <a:ext cx="2205037" cy="76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Retail accounts and regional grocery chains lacked centralized tracking, causing overlap and lost relationship history across buyer locations.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6162" y="28856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3586162" y="3495228"/>
            <a:ext cx="2315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Multi-Stakeholder Deals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3586162" y="3828603"/>
            <a:ext cx="2205037" cy="76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B2B retail procurement cycles involved category managers, store directors, and merchandisers, demanding structured deal stages.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28856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6400800" y="3495228"/>
            <a:ext cx="2315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Disconnected Collateral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400800" y="3828603"/>
            <a:ext cx="2205037" cy="76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Post-signing in-store marketing support and sampling logistics had zero automated handoffs from the core closing team.</a:t>
            </a:r>
            <a:endParaRPr/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5437" y="28856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9215437" y="3495228"/>
            <a:ext cx="2315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RevOps Blindspots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215437" y="3828603"/>
            <a:ext cx="2205037" cy="76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Executive management lacked real-time visibility into high-value B2B pipeline values, distribution bottlenecks, and lead conversions.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1062" y="3009453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1412" y="3009453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3009453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39262" y="300945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Retail Expansion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Pain Points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7070"/>
            <a:ext cx="1988790" cy="860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6515" y="2667148"/>
            <a:ext cx="1988790" cy="860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530" y="3947070"/>
            <a:ext cx="1988790" cy="860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545" y="2667148"/>
            <a:ext cx="1988790" cy="860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1560" y="3947070"/>
            <a:ext cx="1988790" cy="86082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/>
          <p:nvPr/>
        </p:nvSpPr>
        <p:spPr>
          <a:xfrm>
            <a:off x="571500" y="3723233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71798" y="4089945"/>
            <a:ext cx="1788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1. Store Discovery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714375" y="4356645"/>
            <a:ext cx="1703040" cy="30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target grocery chains &amp; store demographics.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2936814" y="2810023"/>
            <a:ext cx="1788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2. Initial Outreach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2979390" y="3076723"/>
            <a:ext cx="1703040" cy="30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Engage procurement buyers and store leads.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5201829" y="4089945"/>
            <a:ext cx="1788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3. Product Pitch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5244405" y="4356645"/>
            <a:ext cx="1703040" cy="30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Sample presentations &amp; pricing proposal review.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7466844" y="2810023"/>
            <a:ext cx="1788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4. Negotiation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509420" y="3076723"/>
            <a:ext cx="1703040" cy="30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Margin agreements, delivery terms &amp; contracts.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9731859" y="4089945"/>
            <a:ext cx="1788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5. In-Store Launch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9774435" y="4356645"/>
            <a:ext cx="1703040" cy="30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 collateral &amp; merchandising support.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1480170" y="365179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745185" y="365179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010200" y="365179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8275215" y="365179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10540231" y="365179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B2B Retail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Sales Lifecycle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0461"/>
            <a:ext cx="11049000" cy="24741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17"/>
          <p:cNvGraphicFramePr/>
          <p:nvPr/>
        </p:nvGraphicFramePr>
        <p:xfrm>
          <a:off x="581025" y="25099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{4F55B2D4-52E1-4388-A8C6-EC58201AE00B}</a:tableStyleId>
              </a:tblPr>
              <a:tblGrid>
                <a:gridCol w="2380950"/>
                <a:gridCol w="2624575"/>
                <a:gridCol w="6024425"/>
              </a:tblGrid>
              <a:tr h="40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B254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Business Workflow Step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B254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Standard / Custom Object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B254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Technical Implementation &amp; Business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0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Identify Target Grocery Stores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Account (Standard)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Modeled store headquarters and retail branches with custom B2B hierarchy fields.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Initiate Buyer Outreach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Lead &amp; Contact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Standardized lead conversion rules routing qualified retail buyers directly into pipeline.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0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Conduct Pitch &amp; Presentations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Opportunity (Stages 1-3)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 sales path tracking presentation completion and tasting feedback ratings.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Negotiate Terms &amp; Pricing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Opportunity &amp; Quotes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Standardized product lines, margin calculations, and contract documentation capture.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0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Launch Retail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Campaign &amp; Custom Assets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 marketing application for tracking POP displays and in-store sampling kits.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7"/>
          <p:cNvSpPr/>
          <p:nvPr/>
        </p:nvSpPr>
        <p:spPr>
          <a:xfrm>
            <a:off x="581025" y="2900511"/>
            <a:ext cx="2380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2961977" y="2900511"/>
            <a:ext cx="2624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5586561" y="2900511"/>
            <a:ext cx="60244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81025" y="3312467"/>
            <a:ext cx="2380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2961977" y="3312467"/>
            <a:ext cx="2624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586561" y="3312467"/>
            <a:ext cx="60244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581025" y="3724423"/>
            <a:ext cx="2380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2961977" y="3724423"/>
            <a:ext cx="2624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5586561" y="3724423"/>
            <a:ext cx="60244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81025" y="4136380"/>
            <a:ext cx="2380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2961977" y="4136380"/>
            <a:ext cx="2624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586561" y="4136380"/>
            <a:ext cx="60244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81025" y="4548336"/>
            <a:ext cx="23809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2961977" y="4548336"/>
            <a:ext cx="2624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5586561" y="4548336"/>
            <a:ext cx="60244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Process &amp;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Architecture Mapping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571500" y="523875"/>
            <a:ext cx="56007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Data Model &amp;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Schema Builder</a:t>
            </a:r>
            <a:endParaRPr/>
          </a:p>
        </p:txBody>
      </p:sp>
      <p:pic>
        <p:nvPicPr>
          <p:cNvPr descr="image.png" id="217" name="Google Shape;2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571500" y="114106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Scalable Relational Architecture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71500" y="1579215"/>
            <a:ext cx="5334000" cy="457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Constructed a resilient data model using 10+ custom objects, fields, and junction relationships tailored to grocery distribution channels.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571500" y="2151012"/>
            <a:ext cx="5334000" cy="457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Enforced data integrity across Accounts, Opportunities, Deliveries, and Marketing Campaigns using master-detail and lookup relationships.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0377" y="1927770"/>
            <a:ext cx="4550122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800100" y="255642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 Opportunity Stages: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Configured a transparent 5-stage B2B pipeline from Discovery through Contract Finalization.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00100" y="314697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Path Guidance: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Deployed key fields and guidance for sales reps at each stage to accelerate enterprise deal velocity.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800100" y="373752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Governance: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Enforced validation rules requiring store delivery volume and pricing tiers before advancing to Negotiation.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00100" y="432807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Kanban Usability: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Provided drag-and-drop agility with real-time aggregated deal amounts across grocery segments.</a:t>
            </a:r>
            <a:endParaRPr/>
          </a:p>
        </p:txBody>
      </p:sp>
      <p:pic>
        <p:nvPicPr>
          <p:cNvPr descr="image.png" id="231" name="Google Shape;23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9902" y="1937295"/>
            <a:ext cx="453107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571500" y="253737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" y="312792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71500" y="371847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571500" y="430902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Sales Cloud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Pipeline &amp; Kanban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0377" y="1927770"/>
            <a:ext cx="4550122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00100" y="255642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Standardized Naming Conventions: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Record-triggered flow dynamically formats Opportunity names by Account, Region, and Close Date.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00100" y="314697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High-Value Threshold Alerts: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Automated financial notifications route deals exceeding defined limits to RevOps leadership.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00100" y="373752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Task Generation: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Automatically generates post-signing merchandising follow-ups upon Closed-Won contract finalization.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800100" y="4328070"/>
            <a:ext cx="59273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Clean RevOps Governance: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Eliminated manual data updates, reducing administrative overhead across the sales cycle.</a:t>
            </a:r>
            <a:endParaRPr/>
          </a:p>
        </p:txBody>
      </p:sp>
      <p:pic>
        <p:nvPicPr>
          <p:cNvPr descr="image.png" id="247" name="Google Shape;24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9902" y="1937295"/>
            <a:ext cx="453107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571500" y="253737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571500" y="312792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571500" y="371847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571500" y="430902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Flow Builder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Automation Engine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6920"/>
            <a:ext cx="53530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746920"/>
            <a:ext cx="535305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847725" y="3023145"/>
            <a:ext cx="50406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Role Hierarchy &amp; Profiles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47725" y="3423195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Designed an org-wide access hierarchy reflecting Parker Pizza's organizational structure with 3 custom profiles (Sales Rep, Marketing Specialist, RevOps Executive) and 4 hierarchical roles to safeguard sensitive grocery margin contracts.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543675" y="3023145"/>
            <a:ext cx="50406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Permission Sets &amp; FLS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543675" y="3423195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Implemented 6 targeted Permission Sets to grant modular privileges (e.g., Campaign Authoring, Discount Approvals) while maintaining strict Field-Level Security (FLS) on financial and wholesale unit cost metrics.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Security &amp;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Governance Framework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71500" y="523875"/>
            <a:ext cx="56007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RevOps </a:t>
            </a:r>
            <a:r>
              <a:rPr b="1" i="0" lang="en-US" sz="25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Analytics &amp; Dashboards</a:t>
            </a:r>
            <a:endParaRPr/>
          </a:p>
        </p:txBody>
      </p:sp>
      <p:pic>
        <p:nvPicPr>
          <p:cNvPr descr="image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571500" y="114106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Executive Real-Time Visibility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571500" y="1579215"/>
            <a:ext cx="5334000" cy="457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Engineered 15+ custom tabular and summary reports feeding a 4-component Executive Dashboard for complete pipeline oversight.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71500" y="2151012"/>
            <a:ext cx="5334000" cy="457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Provided stakeholders with real-time visibility into win rates, regional revenue distribution, and pending retail onboarding deadlines.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571500" y="476250"/>
            <a:ext cx="1104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Implementation </a:t>
            </a:r>
            <a:r>
              <a:rPr b="1" lang="en-US" sz="26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Impact &amp; KPIs</a:t>
            </a:r>
            <a:endParaRPr b="1" sz="2600">
              <a:solidFill>
                <a:srgbClr val="0B254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1" name="Google Shape;281;p23"/>
          <p:cNvGrpSpPr/>
          <p:nvPr/>
        </p:nvGrpSpPr>
        <p:grpSpPr>
          <a:xfrm>
            <a:off x="571500" y="1333500"/>
            <a:ext cx="2190900" cy="2047800"/>
            <a:chOff x="0" y="0"/>
            <a:chExt cx="2190900" cy="2047800"/>
          </a:xfrm>
        </p:grpSpPr>
        <p:sp>
          <p:nvSpPr>
            <p:cNvPr id="282" name="Google Shape;282;p23"/>
            <p:cNvSpPr/>
            <p:nvPr/>
          </p:nvSpPr>
          <p:spPr>
            <a:xfrm>
              <a:off x="0" y="0"/>
              <a:ext cx="21909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3"/>
            <p:cNvSpPr txBox="1"/>
            <p:nvPr/>
          </p:nvSpPr>
          <p:spPr>
            <a:xfrm>
              <a:off x="228600" y="2607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5" name="Google Shape;285;p23"/>
            <p:cNvSpPr txBox="1"/>
            <p:nvPr/>
          </p:nvSpPr>
          <p:spPr>
            <a:xfrm>
              <a:off x="228600" y="809625"/>
              <a:ext cx="1733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10+</a:t>
              </a:r>
              <a:endParaRPr b="1" sz="36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Custom Objects Built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6" name="Google Shape;286;p23"/>
          <p:cNvGrpSpPr/>
          <p:nvPr/>
        </p:nvGrpSpPr>
        <p:grpSpPr>
          <a:xfrm>
            <a:off x="2952750" y="1333500"/>
            <a:ext cx="2190900" cy="2047800"/>
            <a:chOff x="0" y="0"/>
            <a:chExt cx="2190900" cy="2047800"/>
          </a:xfrm>
        </p:grpSpPr>
        <p:sp>
          <p:nvSpPr>
            <p:cNvPr id="287" name="Google Shape;287;p23"/>
            <p:cNvSpPr/>
            <p:nvPr/>
          </p:nvSpPr>
          <p:spPr>
            <a:xfrm>
              <a:off x="0" y="0"/>
              <a:ext cx="21909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3"/>
            <p:cNvSpPr txBox="1"/>
            <p:nvPr/>
          </p:nvSpPr>
          <p:spPr>
            <a:xfrm>
              <a:off x="228600" y="2607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228600" y="809625"/>
              <a:ext cx="1733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 b="1" sz="36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Automated Flows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1" name="Google Shape;291;p23"/>
          <p:cNvGrpSpPr/>
          <p:nvPr/>
        </p:nvGrpSpPr>
        <p:grpSpPr>
          <a:xfrm>
            <a:off x="571500" y="3571875"/>
            <a:ext cx="2190900" cy="2047800"/>
            <a:chOff x="0" y="0"/>
            <a:chExt cx="2190900" cy="2047800"/>
          </a:xfrm>
        </p:grpSpPr>
        <p:sp>
          <p:nvSpPr>
            <p:cNvPr id="292" name="Google Shape;292;p23"/>
            <p:cNvSpPr/>
            <p:nvPr/>
          </p:nvSpPr>
          <p:spPr>
            <a:xfrm>
              <a:off x="0" y="0"/>
              <a:ext cx="21909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3"/>
            <p:cNvSpPr txBox="1"/>
            <p:nvPr/>
          </p:nvSpPr>
          <p:spPr>
            <a:xfrm>
              <a:off x="228600" y="2607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228600" y="809625"/>
              <a:ext cx="1733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15+</a:t>
              </a:r>
              <a:endParaRPr b="1" sz="36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RevOps Reports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2952750" y="3571875"/>
            <a:ext cx="2190900" cy="2047800"/>
            <a:chOff x="0" y="0"/>
            <a:chExt cx="2190900" cy="2047800"/>
          </a:xfrm>
        </p:grpSpPr>
        <p:sp>
          <p:nvSpPr>
            <p:cNvPr id="297" name="Google Shape;297;p23"/>
            <p:cNvSpPr/>
            <p:nvPr/>
          </p:nvSpPr>
          <p:spPr>
            <a:xfrm>
              <a:off x="0" y="0"/>
              <a:ext cx="21909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228600" y="2607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0" name="Google Shape;300;p23"/>
            <p:cNvSpPr txBox="1"/>
            <p:nvPr/>
          </p:nvSpPr>
          <p:spPr>
            <a:xfrm>
              <a:off x="228600" y="809625"/>
              <a:ext cx="1733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100%</a:t>
              </a:r>
              <a:endParaRPr b="1" sz="36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Validated Data Ingestion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1" name="Google Shape;301;p23"/>
          <p:cNvGrpSpPr/>
          <p:nvPr/>
        </p:nvGrpSpPr>
        <p:grpSpPr>
          <a:xfrm>
            <a:off x="5429250" y="1333500"/>
            <a:ext cx="6191400" cy="1314600"/>
            <a:chOff x="0" y="0"/>
            <a:chExt cx="6191400" cy="1314600"/>
          </a:xfrm>
        </p:grpSpPr>
        <p:sp>
          <p:nvSpPr>
            <p:cNvPr id="302" name="Google Shape;302;p23"/>
            <p:cNvSpPr/>
            <p:nvPr/>
          </p:nvSpPr>
          <p:spPr>
            <a:xfrm>
              <a:off x="0" y="0"/>
              <a:ext cx="6191400" cy="1314600"/>
            </a:xfrm>
            <a:prstGeom prst="roundRect">
              <a:avLst>
                <a:gd fmla="val 115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228600" y="25781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800100" y="190500"/>
              <a:ext cx="51627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Full-Cycle Delivery</a:t>
              </a:r>
              <a:endParaRPr b="1" sz="130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Designed and deployed an end-to-end B2B CRM instance from requirements gathering through data cleansing and executive reporting.</a:t>
              </a:r>
              <a:endParaRPr b="0"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6" name="Google Shape;306;p23"/>
          <p:cNvGrpSpPr/>
          <p:nvPr/>
        </p:nvGrpSpPr>
        <p:grpSpPr>
          <a:xfrm>
            <a:off x="5429250" y="2838450"/>
            <a:ext cx="6191400" cy="1314600"/>
            <a:chOff x="0" y="0"/>
            <a:chExt cx="6191400" cy="1314600"/>
          </a:xfrm>
        </p:grpSpPr>
        <p:sp>
          <p:nvSpPr>
            <p:cNvPr id="307" name="Google Shape;307;p23"/>
            <p:cNvSpPr/>
            <p:nvPr/>
          </p:nvSpPr>
          <p:spPr>
            <a:xfrm>
              <a:off x="0" y="0"/>
              <a:ext cx="6191400" cy="1314600"/>
            </a:xfrm>
            <a:prstGeom prst="roundRect">
              <a:avLst>
                <a:gd fmla="val 115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228600" y="25781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cleaning_services</a:t>
              </a:r>
              <a:endParaRPr sz="2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800100" y="190500"/>
              <a:ext cx="51627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Clean Data Migration</a:t>
              </a:r>
              <a:endParaRPr b="1" sz="130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Imported and sanitized legacy account datasets using Data Loader while enforcing strict validation rules and referential integrity.</a:t>
              </a:r>
              <a:endParaRPr b="0"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1" name="Google Shape;311;p23"/>
          <p:cNvGrpSpPr/>
          <p:nvPr/>
        </p:nvGrpSpPr>
        <p:grpSpPr>
          <a:xfrm>
            <a:off x="5429250" y="4343400"/>
            <a:ext cx="6191400" cy="1276500"/>
            <a:chOff x="0" y="0"/>
            <a:chExt cx="6191400" cy="1276500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6191400" cy="1276500"/>
            </a:xfrm>
            <a:prstGeom prst="roundRect">
              <a:avLst>
                <a:gd fmla="val 1194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228600" y="22860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3"/>
            <p:cNvSpPr txBox="1"/>
            <p:nvPr/>
          </p:nvSpPr>
          <p:spPr>
            <a:xfrm>
              <a:off x="228600" y="25781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5" name="Google Shape;315;p23"/>
            <p:cNvSpPr txBox="1"/>
            <p:nvPr/>
          </p:nvSpPr>
          <p:spPr>
            <a:xfrm>
              <a:off x="800100" y="171450"/>
              <a:ext cx="51627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Enterprise Discipline</a:t>
              </a:r>
              <a:endParaRPr b="1" sz="1300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Leveraged 5+ years of banking operations and compliance rigor to build an audit-ready, enterprise-grade Salesforce environment.</a:t>
              </a:r>
              <a:endParaRPr b="0"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24"/>
          <p:cNvGrpSpPr/>
          <p:nvPr/>
        </p:nvGrpSpPr>
        <p:grpSpPr>
          <a:xfrm>
            <a:off x="571500" y="476250"/>
            <a:ext cx="11049000" cy="1447950"/>
            <a:chOff x="571500" y="0"/>
            <a:chExt cx="11049000" cy="1447950"/>
          </a:xfrm>
        </p:grpSpPr>
        <p:sp>
          <p:nvSpPr>
            <p:cNvPr id="322" name="Google Shape;322;p24"/>
            <p:cNvSpPr/>
            <p:nvPr/>
          </p:nvSpPr>
          <p:spPr>
            <a:xfrm>
              <a:off x="5095875" y="0"/>
              <a:ext cx="2000100" cy="324000"/>
            </a:xfrm>
            <a:prstGeom prst="roundRect">
              <a:avLst>
                <a:gd fmla="val 50000" name="adj"/>
              </a:avLst>
            </a:prstGeom>
            <a:solidFill>
              <a:srgbClr val="E0F2FE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4"/>
            <p:cNvSpPr txBox="1"/>
            <p:nvPr/>
          </p:nvSpPr>
          <p:spPr>
            <a:xfrm>
              <a:off x="5095875" y="0"/>
              <a:ext cx="20001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TECHNICAL PORTFOLIO</a:t>
              </a:r>
              <a:endParaRPr b="1" sz="9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571500" y="495300"/>
              <a:ext cx="11049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85">
                  <a:solidFill>
                    <a:srgbClr val="0B2545"/>
                  </a:solidFill>
                  <a:latin typeface="Poppins"/>
                  <a:ea typeface="Poppins"/>
                  <a:cs typeface="Poppins"/>
                  <a:sym typeface="Poppins"/>
                </a:rPr>
                <a:t>Questions &amp; Discussion</a:t>
              </a:r>
              <a:endParaRPr b="1" sz="3885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24"/>
            <p:cNvSpPr txBox="1"/>
            <p:nvPr/>
          </p:nvSpPr>
          <p:spPr>
            <a:xfrm>
              <a:off x="571500" y="1162050"/>
              <a:ext cx="1104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Salesforce Architecture &amp; Revenue Operations Walkthrough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26" name="Google Shape;326;p24"/>
          <p:cNvGrpSpPr/>
          <p:nvPr/>
        </p:nvGrpSpPr>
        <p:grpSpPr>
          <a:xfrm>
            <a:off x="666750" y="2333625"/>
            <a:ext cx="3467100" cy="1943100"/>
            <a:chOff x="0" y="0"/>
            <a:chExt cx="3467100" cy="1943100"/>
          </a:xfrm>
        </p:grpSpPr>
        <p:sp>
          <p:nvSpPr>
            <p:cNvPr id="327" name="Google Shape;327;p24"/>
            <p:cNvSpPr/>
            <p:nvPr/>
          </p:nvSpPr>
          <p:spPr>
            <a:xfrm>
              <a:off x="38100" y="38100"/>
              <a:ext cx="3429000" cy="1905000"/>
            </a:xfrm>
            <a:prstGeom prst="roundRect">
              <a:avLst>
                <a:gd fmla="val 8000" name="adj"/>
              </a:avLst>
            </a:prstGeom>
            <a:solidFill>
              <a:srgbClr val="0284C7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0" y="0"/>
              <a:ext cx="3429000" cy="19050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266700" y="2667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4"/>
            <p:cNvSpPr txBox="1"/>
            <p:nvPr/>
          </p:nvSpPr>
          <p:spPr>
            <a:xfrm>
              <a:off x="266700" y="2988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876300" y="304800"/>
              <a:ext cx="2324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ADMINISTRATOR</a:t>
              </a:r>
              <a:endParaRPr b="1" sz="9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2545"/>
                  </a:solidFill>
                  <a:latin typeface="Lato"/>
                  <a:ea typeface="Lato"/>
                  <a:cs typeface="Lato"/>
                  <a:sym typeface="Lato"/>
                </a:rPr>
                <a:t>Maria Naz</a:t>
              </a:r>
              <a:endParaRPr b="1" sz="1800">
                <a:solidFill>
                  <a:srgbClr val="0B254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2" name="Google Shape;332;p24"/>
          <p:cNvGrpSpPr/>
          <p:nvPr/>
        </p:nvGrpSpPr>
        <p:grpSpPr>
          <a:xfrm>
            <a:off x="4381500" y="2333625"/>
            <a:ext cx="3467100" cy="1943100"/>
            <a:chOff x="0" y="0"/>
            <a:chExt cx="3467100" cy="1943100"/>
          </a:xfrm>
        </p:grpSpPr>
        <p:sp>
          <p:nvSpPr>
            <p:cNvPr id="333" name="Google Shape;333;p24"/>
            <p:cNvSpPr/>
            <p:nvPr/>
          </p:nvSpPr>
          <p:spPr>
            <a:xfrm>
              <a:off x="38100" y="38100"/>
              <a:ext cx="3429000" cy="1905000"/>
            </a:xfrm>
            <a:prstGeom prst="roundRect">
              <a:avLst>
                <a:gd fmla="val 8000" name="adj"/>
              </a:avLst>
            </a:prstGeom>
            <a:solidFill>
              <a:srgbClr val="0284C7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0" y="0"/>
              <a:ext cx="3429000" cy="19050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266700" y="2667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4"/>
            <p:cNvSpPr txBox="1"/>
            <p:nvPr/>
          </p:nvSpPr>
          <p:spPr>
            <a:xfrm>
              <a:off x="266700" y="2988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7" name="Google Shape;337;p24"/>
            <p:cNvSpPr txBox="1"/>
            <p:nvPr/>
          </p:nvSpPr>
          <p:spPr>
            <a:xfrm>
              <a:off x="876300" y="304800"/>
              <a:ext cx="2324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CERTIFICATIONS</a:t>
              </a:r>
              <a:endParaRPr b="1" sz="9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B2545"/>
                  </a:solidFill>
                  <a:latin typeface="Lato"/>
                  <a:ea typeface="Lato"/>
                  <a:cs typeface="Lato"/>
                  <a:sym typeface="Lato"/>
                </a:rPr>
                <a:t>Salesforce Admin &amp; Agentforce Specialist</a:t>
              </a:r>
              <a:endParaRPr b="1" sz="1500">
                <a:solidFill>
                  <a:srgbClr val="0B254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8" name="Google Shape;338;p24"/>
          <p:cNvGrpSpPr/>
          <p:nvPr/>
        </p:nvGrpSpPr>
        <p:grpSpPr>
          <a:xfrm>
            <a:off x="8096250" y="2333625"/>
            <a:ext cx="3467100" cy="1943100"/>
            <a:chOff x="0" y="0"/>
            <a:chExt cx="3467100" cy="1943100"/>
          </a:xfrm>
        </p:grpSpPr>
        <p:sp>
          <p:nvSpPr>
            <p:cNvPr id="339" name="Google Shape;339;p24"/>
            <p:cNvSpPr/>
            <p:nvPr/>
          </p:nvSpPr>
          <p:spPr>
            <a:xfrm>
              <a:off x="38100" y="38100"/>
              <a:ext cx="3429000" cy="1905000"/>
            </a:xfrm>
            <a:prstGeom prst="roundRect">
              <a:avLst>
                <a:gd fmla="val 8000" name="adj"/>
              </a:avLst>
            </a:prstGeom>
            <a:solidFill>
              <a:srgbClr val="0284C7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0" y="0"/>
              <a:ext cx="3429000" cy="19050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266700" y="266700"/>
              <a:ext cx="457200" cy="4572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266700" y="298831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location_on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876300" y="304800"/>
              <a:ext cx="2324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LOCATION</a:t>
              </a:r>
              <a:endParaRPr b="1" sz="95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2545"/>
                  </a:solidFill>
                  <a:latin typeface="Lato"/>
                  <a:ea typeface="Lato"/>
                  <a:cs typeface="Lato"/>
                  <a:sym typeface="Lato"/>
                </a:rPr>
                <a:t>Albertslund, Denmark</a:t>
              </a:r>
              <a:endParaRPr b="1" sz="1800">
                <a:solidFill>
                  <a:srgbClr val="0B254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4" name="Google Shape;344;p24"/>
          <p:cNvGrpSpPr/>
          <p:nvPr/>
        </p:nvGrpSpPr>
        <p:grpSpPr>
          <a:xfrm>
            <a:off x="666750" y="4572000"/>
            <a:ext cx="5286300" cy="857400"/>
            <a:chOff x="0" y="0"/>
            <a:chExt cx="5286300" cy="857400"/>
          </a:xfrm>
        </p:grpSpPr>
        <p:sp>
          <p:nvSpPr>
            <p:cNvPr id="345" name="Google Shape;345;p24"/>
            <p:cNvSpPr/>
            <p:nvPr/>
          </p:nvSpPr>
          <p:spPr>
            <a:xfrm>
              <a:off x="0" y="0"/>
              <a:ext cx="5286300" cy="857400"/>
            </a:xfrm>
            <a:prstGeom prst="roundRect">
              <a:avLst>
                <a:gd fmla="val 1777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247650" y="219075"/>
              <a:ext cx="419100" cy="419100"/>
            </a:xfrm>
            <a:prstGeom prst="ellipse">
              <a:avLst/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 txBox="1"/>
            <p:nvPr/>
          </p:nvSpPr>
          <p:spPr>
            <a:xfrm>
              <a:off x="247650" y="24828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stars</a:t>
              </a:r>
              <a:endParaRPr sz="2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8" name="Google Shape;348;p24"/>
            <p:cNvSpPr txBox="1"/>
            <p:nvPr/>
          </p:nvSpPr>
          <p:spPr>
            <a:xfrm>
              <a:off x="819150" y="209550"/>
              <a:ext cx="4238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TRAILBLAZER PROFILE</a:t>
              </a:r>
              <a:endParaRPr b="1" sz="9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salesforce.com/trailblazer/marianaz</a:t>
              </a:r>
              <a:endParaRPr b="0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9" name="Google Shape;349;p24"/>
          <p:cNvGrpSpPr/>
          <p:nvPr/>
        </p:nvGrpSpPr>
        <p:grpSpPr>
          <a:xfrm>
            <a:off x="6238875" y="4572000"/>
            <a:ext cx="5286300" cy="857400"/>
            <a:chOff x="0" y="0"/>
            <a:chExt cx="5286300" cy="857400"/>
          </a:xfrm>
        </p:grpSpPr>
        <p:sp>
          <p:nvSpPr>
            <p:cNvPr id="350" name="Google Shape;350;p24"/>
            <p:cNvSpPr/>
            <p:nvPr/>
          </p:nvSpPr>
          <p:spPr>
            <a:xfrm>
              <a:off x="0" y="0"/>
              <a:ext cx="5286300" cy="857400"/>
            </a:xfrm>
            <a:prstGeom prst="roundRect">
              <a:avLst>
                <a:gd fmla="val 1777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247650" y="219075"/>
              <a:ext cx="419100" cy="419100"/>
            </a:xfrm>
            <a:prstGeom prst="ellipse">
              <a:avLst/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247650" y="24828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workspace_premium</a:t>
              </a:r>
              <a:endParaRPr sz="2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3" name="Google Shape;353;p24"/>
            <p:cNvSpPr txBox="1"/>
            <p:nvPr/>
          </p:nvSpPr>
          <p:spPr>
            <a:xfrm>
              <a:off x="819150" y="209550"/>
              <a:ext cx="4238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284C7"/>
                  </a:solidFill>
                  <a:latin typeface="Poppins"/>
                  <a:ea typeface="Poppins"/>
                  <a:cs typeface="Poppins"/>
                  <a:sym typeface="Poppins"/>
                </a:rPr>
                <a:t>LINKEDIN PROFILE</a:t>
              </a:r>
              <a:endParaRPr b="1" sz="900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linkedin.com/in/maria-naz-gondal</a:t>
              </a:r>
              <a:endParaRPr b="0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